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696B8D-DDCB-477D-8EB5-33C4D3D4D2D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0D4126-2CBD-426D-BDA2-82FCD5FEB16D}">
      <dgm:prSet/>
      <dgm:spPr/>
      <dgm:t>
        <a:bodyPr/>
        <a:lstStyle/>
        <a:p>
          <a:r>
            <a:rPr lang="ko-KR" dirty="0"/>
            <a:t>기상 데이터 기반 </a:t>
          </a:r>
          <a:r>
            <a:rPr lang="ko-KR" altLang="en-US" dirty="0"/>
            <a:t>미래 </a:t>
          </a:r>
          <a:r>
            <a:rPr lang="en-US" altLang="ko-KR" dirty="0"/>
            <a:t>119 </a:t>
          </a:r>
          <a:r>
            <a:rPr lang="ko-KR" dirty="0"/>
            <a:t>신고 건수 예측 가능</a:t>
          </a:r>
          <a:r>
            <a:rPr lang="ko-KR" altLang="en-US" dirty="0"/>
            <a:t>성 파악 </a:t>
          </a:r>
          <a:endParaRPr lang="en-US" dirty="0"/>
        </a:p>
      </dgm:t>
    </dgm:pt>
    <dgm:pt modelId="{A00A0085-353A-4286-AEEF-7096CADB4600}" type="parTrans" cxnId="{F045A65F-95AB-4AD0-B502-A3BF118E0769}">
      <dgm:prSet/>
      <dgm:spPr/>
      <dgm:t>
        <a:bodyPr/>
        <a:lstStyle/>
        <a:p>
          <a:endParaRPr lang="en-US"/>
        </a:p>
      </dgm:t>
    </dgm:pt>
    <dgm:pt modelId="{55738F6B-87D3-434A-84D0-9979804EC555}" type="sibTrans" cxnId="{F045A65F-95AB-4AD0-B502-A3BF118E0769}">
      <dgm:prSet/>
      <dgm:spPr/>
      <dgm:t>
        <a:bodyPr/>
        <a:lstStyle/>
        <a:p>
          <a:endParaRPr lang="en-US"/>
        </a:p>
      </dgm:t>
    </dgm:pt>
    <dgm:pt modelId="{9F59EDD2-51AC-40FF-B32F-7509327292D6}">
      <dgm:prSet/>
      <dgm:spPr/>
      <dgm:t>
        <a:bodyPr/>
        <a:lstStyle/>
        <a:p>
          <a:r>
            <a:rPr lang="en-US" dirty="0"/>
            <a:t>LSTM, CNN, MLP </a:t>
          </a:r>
          <a:r>
            <a:rPr lang="ko-KR" altLang="en-US" dirty="0"/>
            <a:t>모두 분석에 효과적</a:t>
          </a:r>
          <a:endParaRPr lang="en-US" dirty="0"/>
        </a:p>
      </dgm:t>
    </dgm:pt>
    <dgm:pt modelId="{159E1452-F4B0-4D80-81BD-D4CB56BF66CE}" type="parTrans" cxnId="{12A50FC1-6324-4A0D-8AC5-80A8B5347509}">
      <dgm:prSet/>
      <dgm:spPr/>
      <dgm:t>
        <a:bodyPr/>
        <a:lstStyle/>
        <a:p>
          <a:endParaRPr lang="en-US"/>
        </a:p>
      </dgm:t>
    </dgm:pt>
    <dgm:pt modelId="{468F44DB-CEB1-491D-98F7-0A99B4DB17A3}" type="sibTrans" cxnId="{12A50FC1-6324-4A0D-8AC5-80A8B5347509}">
      <dgm:prSet/>
      <dgm:spPr/>
      <dgm:t>
        <a:bodyPr/>
        <a:lstStyle/>
        <a:p>
          <a:endParaRPr lang="en-US"/>
        </a:p>
      </dgm:t>
    </dgm:pt>
    <dgm:pt modelId="{EFFB7594-67AF-4C36-AC44-4F05A036FB37}">
      <dgm:prSet/>
      <dgm:spPr/>
      <dgm:t>
        <a:bodyPr/>
        <a:lstStyle/>
        <a:p>
          <a:r>
            <a:rPr lang="ko-KR" dirty="0"/>
            <a:t>한계점 </a:t>
          </a:r>
          <a:r>
            <a:rPr lang="en-US" dirty="0"/>
            <a:t>: </a:t>
          </a:r>
          <a:r>
            <a:rPr lang="ko-KR" dirty="0"/>
            <a:t>데이터 분석 기간 한정</a:t>
          </a:r>
          <a:r>
            <a:rPr lang="ko-KR" altLang="en-US" dirty="0"/>
            <a:t>됨</a:t>
          </a:r>
          <a:r>
            <a:rPr lang="en-US" dirty="0"/>
            <a:t>, </a:t>
          </a:r>
          <a:r>
            <a:rPr lang="ko-KR" dirty="0"/>
            <a:t>기상 외 요인 </a:t>
          </a:r>
          <a:r>
            <a:rPr lang="ko-KR" dirty="0" err="1"/>
            <a:t>미반영</a:t>
          </a:r>
          <a:r>
            <a:rPr lang="en-US" dirty="0"/>
            <a:t>(</a:t>
          </a:r>
          <a:r>
            <a:rPr lang="ko-KR" dirty="0"/>
            <a:t>인구</a:t>
          </a:r>
          <a:r>
            <a:rPr lang="en-US" dirty="0"/>
            <a:t>, </a:t>
          </a:r>
          <a:r>
            <a:rPr lang="ko-KR" dirty="0"/>
            <a:t>이벤트</a:t>
          </a:r>
          <a:r>
            <a:rPr lang="en-US" altLang="ko-KR" dirty="0"/>
            <a:t>, </a:t>
          </a:r>
          <a:r>
            <a:rPr lang="ko-KR" altLang="en-US" dirty="0"/>
            <a:t>재난</a:t>
          </a:r>
          <a:r>
            <a:rPr lang="ko-KR" dirty="0"/>
            <a:t> 등</a:t>
          </a:r>
          <a:r>
            <a:rPr lang="en-US" dirty="0"/>
            <a:t>) </a:t>
          </a:r>
        </a:p>
      </dgm:t>
    </dgm:pt>
    <dgm:pt modelId="{9E60A3EC-48A4-4628-B2DA-00ED5BFE109D}" type="parTrans" cxnId="{460597FF-6C5C-413C-B416-B1A9F8CF5A01}">
      <dgm:prSet/>
      <dgm:spPr/>
      <dgm:t>
        <a:bodyPr/>
        <a:lstStyle/>
        <a:p>
          <a:endParaRPr lang="en-US"/>
        </a:p>
      </dgm:t>
    </dgm:pt>
    <dgm:pt modelId="{A58ADDCA-0464-4330-B660-4BEC6D86BF2E}" type="sibTrans" cxnId="{460597FF-6C5C-413C-B416-B1A9F8CF5A01}">
      <dgm:prSet/>
      <dgm:spPr/>
      <dgm:t>
        <a:bodyPr/>
        <a:lstStyle/>
        <a:p>
          <a:endParaRPr lang="en-US"/>
        </a:p>
      </dgm:t>
    </dgm:pt>
    <dgm:pt modelId="{BEBCC247-7B3D-41F3-8556-062E04AEE5DF}" type="pres">
      <dgm:prSet presAssocID="{52696B8D-DDCB-477D-8EB5-33C4D3D4D2D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0B7EE4F-EF01-4AA7-8475-A808BDD57FDD}" type="pres">
      <dgm:prSet presAssocID="{ED0D4126-2CBD-426D-BDA2-82FCD5FEB16D}" presName="hierRoot1" presStyleCnt="0"/>
      <dgm:spPr/>
    </dgm:pt>
    <dgm:pt modelId="{FBC6E870-E280-46DC-AE12-1C9EB3325B9F}" type="pres">
      <dgm:prSet presAssocID="{ED0D4126-2CBD-426D-BDA2-82FCD5FEB16D}" presName="composite" presStyleCnt="0"/>
      <dgm:spPr/>
    </dgm:pt>
    <dgm:pt modelId="{1C5AF3A9-A578-4376-812C-3FF4DCFAEB41}" type="pres">
      <dgm:prSet presAssocID="{ED0D4126-2CBD-426D-BDA2-82FCD5FEB16D}" presName="background" presStyleLbl="node0" presStyleIdx="0" presStyleCnt="3"/>
      <dgm:spPr/>
    </dgm:pt>
    <dgm:pt modelId="{6CCE37AC-B94A-4C97-AF6B-69FAF1EA2640}" type="pres">
      <dgm:prSet presAssocID="{ED0D4126-2CBD-426D-BDA2-82FCD5FEB16D}" presName="text" presStyleLbl="fgAcc0" presStyleIdx="0" presStyleCnt="3">
        <dgm:presLayoutVars>
          <dgm:chPref val="3"/>
        </dgm:presLayoutVars>
      </dgm:prSet>
      <dgm:spPr/>
    </dgm:pt>
    <dgm:pt modelId="{ADA0587B-FEC6-49BB-88C5-9031F6696D9A}" type="pres">
      <dgm:prSet presAssocID="{ED0D4126-2CBD-426D-BDA2-82FCD5FEB16D}" presName="hierChild2" presStyleCnt="0"/>
      <dgm:spPr/>
    </dgm:pt>
    <dgm:pt modelId="{D8F59534-ABB0-4BF4-9A25-E67D056D8467}" type="pres">
      <dgm:prSet presAssocID="{9F59EDD2-51AC-40FF-B32F-7509327292D6}" presName="hierRoot1" presStyleCnt="0"/>
      <dgm:spPr/>
    </dgm:pt>
    <dgm:pt modelId="{3F28D176-CE2C-45A2-A252-4B13D209E893}" type="pres">
      <dgm:prSet presAssocID="{9F59EDD2-51AC-40FF-B32F-7509327292D6}" presName="composite" presStyleCnt="0"/>
      <dgm:spPr/>
    </dgm:pt>
    <dgm:pt modelId="{80299A53-B0D1-41EE-93DE-B77DF429602F}" type="pres">
      <dgm:prSet presAssocID="{9F59EDD2-51AC-40FF-B32F-7509327292D6}" presName="background" presStyleLbl="node0" presStyleIdx="1" presStyleCnt="3"/>
      <dgm:spPr/>
    </dgm:pt>
    <dgm:pt modelId="{4E225CCD-B1A6-40DB-9F31-F803A8824700}" type="pres">
      <dgm:prSet presAssocID="{9F59EDD2-51AC-40FF-B32F-7509327292D6}" presName="text" presStyleLbl="fgAcc0" presStyleIdx="1" presStyleCnt="3">
        <dgm:presLayoutVars>
          <dgm:chPref val="3"/>
        </dgm:presLayoutVars>
      </dgm:prSet>
      <dgm:spPr/>
    </dgm:pt>
    <dgm:pt modelId="{F41C2C14-B364-49B3-8640-79143A72013D}" type="pres">
      <dgm:prSet presAssocID="{9F59EDD2-51AC-40FF-B32F-7509327292D6}" presName="hierChild2" presStyleCnt="0"/>
      <dgm:spPr/>
    </dgm:pt>
    <dgm:pt modelId="{88306BA1-BB94-468B-88B3-461BD7748A16}" type="pres">
      <dgm:prSet presAssocID="{EFFB7594-67AF-4C36-AC44-4F05A036FB37}" presName="hierRoot1" presStyleCnt="0"/>
      <dgm:spPr/>
    </dgm:pt>
    <dgm:pt modelId="{9CEA4F06-27FE-4DCB-ACD3-4DA1AAD4E78D}" type="pres">
      <dgm:prSet presAssocID="{EFFB7594-67AF-4C36-AC44-4F05A036FB37}" presName="composite" presStyleCnt="0"/>
      <dgm:spPr/>
    </dgm:pt>
    <dgm:pt modelId="{6143E77A-935D-495D-815C-D70B62722870}" type="pres">
      <dgm:prSet presAssocID="{EFFB7594-67AF-4C36-AC44-4F05A036FB37}" presName="background" presStyleLbl="node0" presStyleIdx="2" presStyleCnt="3"/>
      <dgm:spPr/>
    </dgm:pt>
    <dgm:pt modelId="{A5BC94CF-2336-432C-8B5B-DBDABA825A52}" type="pres">
      <dgm:prSet presAssocID="{EFFB7594-67AF-4C36-AC44-4F05A036FB37}" presName="text" presStyleLbl="fgAcc0" presStyleIdx="2" presStyleCnt="3">
        <dgm:presLayoutVars>
          <dgm:chPref val="3"/>
        </dgm:presLayoutVars>
      </dgm:prSet>
      <dgm:spPr/>
    </dgm:pt>
    <dgm:pt modelId="{5C938785-2047-45B0-A1BD-1B180C0E8F6F}" type="pres">
      <dgm:prSet presAssocID="{EFFB7594-67AF-4C36-AC44-4F05A036FB37}" presName="hierChild2" presStyleCnt="0"/>
      <dgm:spPr/>
    </dgm:pt>
  </dgm:ptLst>
  <dgm:cxnLst>
    <dgm:cxn modelId="{87ADAF38-B891-441B-AF9E-01D2312E4FCB}" type="presOf" srcId="{EFFB7594-67AF-4C36-AC44-4F05A036FB37}" destId="{A5BC94CF-2336-432C-8B5B-DBDABA825A52}" srcOrd="0" destOrd="0" presId="urn:microsoft.com/office/officeart/2005/8/layout/hierarchy1"/>
    <dgm:cxn modelId="{F045A65F-95AB-4AD0-B502-A3BF118E0769}" srcId="{52696B8D-DDCB-477D-8EB5-33C4D3D4D2D2}" destId="{ED0D4126-2CBD-426D-BDA2-82FCD5FEB16D}" srcOrd="0" destOrd="0" parTransId="{A00A0085-353A-4286-AEEF-7096CADB4600}" sibTransId="{55738F6B-87D3-434A-84D0-9979804EC555}"/>
    <dgm:cxn modelId="{9B181041-A201-4E7F-8DD2-A6B104D8EB8C}" type="presOf" srcId="{9F59EDD2-51AC-40FF-B32F-7509327292D6}" destId="{4E225CCD-B1A6-40DB-9F31-F803A8824700}" srcOrd="0" destOrd="0" presId="urn:microsoft.com/office/officeart/2005/8/layout/hierarchy1"/>
    <dgm:cxn modelId="{1E958362-68D2-4571-A0E3-848D8C3E9243}" type="presOf" srcId="{ED0D4126-2CBD-426D-BDA2-82FCD5FEB16D}" destId="{6CCE37AC-B94A-4C97-AF6B-69FAF1EA2640}" srcOrd="0" destOrd="0" presId="urn:microsoft.com/office/officeart/2005/8/layout/hierarchy1"/>
    <dgm:cxn modelId="{D952A557-450F-4CC8-A8A5-C4CC61DCF470}" type="presOf" srcId="{52696B8D-DDCB-477D-8EB5-33C4D3D4D2D2}" destId="{BEBCC247-7B3D-41F3-8556-062E04AEE5DF}" srcOrd="0" destOrd="0" presId="urn:microsoft.com/office/officeart/2005/8/layout/hierarchy1"/>
    <dgm:cxn modelId="{12A50FC1-6324-4A0D-8AC5-80A8B5347509}" srcId="{52696B8D-DDCB-477D-8EB5-33C4D3D4D2D2}" destId="{9F59EDD2-51AC-40FF-B32F-7509327292D6}" srcOrd="1" destOrd="0" parTransId="{159E1452-F4B0-4D80-81BD-D4CB56BF66CE}" sibTransId="{468F44DB-CEB1-491D-98F7-0A99B4DB17A3}"/>
    <dgm:cxn modelId="{460597FF-6C5C-413C-B416-B1A9F8CF5A01}" srcId="{52696B8D-DDCB-477D-8EB5-33C4D3D4D2D2}" destId="{EFFB7594-67AF-4C36-AC44-4F05A036FB37}" srcOrd="2" destOrd="0" parTransId="{9E60A3EC-48A4-4628-B2DA-00ED5BFE109D}" sibTransId="{A58ADDCA-0464-4330-B660-4BEC6D86BF2E}"/>
    <dgm:cxn modelId="{4D12CE98-6195-4555-81E7-C9E7C6513CB3}" type="presParOf" srcId="{BEBCC247-7B3D-41F3-8556-062E04AEE5DF}" destId="{80B7EE4F-EF01-4AA7-8475-A808BDD57FDD}" srcOrd="0" destOrd="0" presId="urn:microsoft.com/office/officeart/2005/8/layout/hierarchy1"/>
    <dgm:cxn modelId="{66DB7282-F934-49F2-9019-176DD54CBFA6}" type="presParOf" srcId="{80B7EE4F-EF01-4AA7-8475-A808BDD57FDD}" destId="{FBC6E870-E280-46DC-AE12-1C9EB3325B9F}" srcOrd="0" destOrd="0" presId="urn:microsoft.com/office/officeart/2005/8/layout/hierarchy1"/>
    <dgm:cxn modelId="{2CCD7F1F-298B-4D6C-ADD7-F67B472686B7}" type="presParOf" srcId="{FBC6E870-E280-46DC-AE12-1C9EB3325B9F}" destId="{1C5AF3A9-A578-4376-812C-3FF4DCFAEB41}" srcOrd="0" destOrd="0" presId="urn:microsoft.com/office/officeart/2005/8/layout/hierarchy1"/>
    <dgm:cxn modelId="{FCAE3EB2-4341-4A32-90F4-2FB022D6FF87}" type="presParOf" srcId="{FBC6E870-E280-46DC-AE12-1C9EB3325B9F}" destId="{6CCE37AC-B94A-4C97-AF6B-69FAF1EA2640}" srcOrd="1" destOrd="0" presId="urn:microsoft.com/office/officeart/2005/8/layout/hierarchy1"/>
    <dgm:cxn modelId="{354401E8-5383-46CB-8A41-F6B4F5E760CD}" type="presParOf" srcId="{80B7EE4F-EF01-4AA7-8475-A808BDD57FDD}" destId="{ADA0587B-FEC6-49BB-88C5-9031F6696D9A}" srcOrd="1" destOrd="0" presId="urn:microsoft.com/office/officeart/2005/8/layout/hierarchy1"/>
    <dgm:cxn modelId="{0CBA18AA-FB22-492C-BFCC-1A36F4C82B16}" type="presParOf" srcId="{BEBCC247-7B3D-41F3-8556-062E04AEE5DF}" destId="{D8F59534-ABB0-4BF4-9A25-E67D056D8467}" srcOrd="1" destOrd="0" presId="urn:microsoft.com/office/officeart/2005/8/layout/hierarchy1"/>
    <dgm:cxn modelId="{F2DA3709-601C-4897-8A1B-87B5BB127ACB}" type="presParOf" srcId="{D8F59534-ABB0-4BF4-9A25-E67D056D8467}" destId="{3F28D176-CE2C-45A2-A252-4B13D209E893}" srcOrd="0" destOrd="0" presId="urn:microsoft.com/office/officeart/2005/8/layout/hierarchy1"/>
    <dgm:cxn modelId="{D79795C5-EF05-462A-8648-3D9862B26780}" type="presParOf" srcId="{3F28D176-CE2C-45A2-A252-4B13D209E893}" destId="{80299A53-B0D1-41EE-93DE-B77DF429602F}" srcOrd="0" destOrd="0" presId="urn:microsoft.com/office/officeart/2005/8/layout/hierarchy1"/>
    <dgm:cxn modelId="{340E6F1E-75FB-4E86-B5F6-138C8006C17E}" type="presParOf" srcId="{3F28D176-CE2C-45A2-A252-4B13D209E893}" destId="{4E225CCD-B1A6-40DB-9F31-F803A8824700}" srcOrd="1" destOrd="0" presId="urn:microsoft.com/office/officeart/2005/8/layout/hierarchy1"/>
    <dgm:cxn modelId="{9539E867-F6C9-4FCD-AFC6-EBAC47B06612}" type="presParOf" srcId="{D8F59534-ABB0-4BF4-9A25-E67D056D8467}" destId="{F41C2C14-B364-49B3-8640-79143A72013D}" srcOrd="1" destOrd="0" presId="urn:microsoft.com/office/officeart/2005/8/layout/hierarchy1"/>
    <dgm:cxn modelId="{FA7F7EBB-4BCD-4653-94A8-6F86FA95F4A7}" type="presParOf" srcId="{BEBCC247-7B3D-41F3-8556-062E04AEE5DF}" destId="{88306BA1-BB94-468B-88B3-461BD7748A16}" srcOrd="2" destOrd="0" presId="urn:microsoft.com/office/officeart/2005/8/layout/hierarchy1"/>
    <dgm:cxn modelId="{F3C67788-0072-49DE-935D-E2789416F84B}" type="presParOf" srcId="{88306BA1-BB94-468B-88B3-461BD7748A16}" destId="{9CEA4F06-27FE-4DCB-ACD3-4DA1AAD4E78D}" srcOrd="0" destOrd="0" presId="urn:microsoft.com/office/officeart/2005/8/layout/hierarchy1"/>
    <dgm:cxn modelId="{CBDD5E34-7A82-4AC8-A1A9-92490389EF0B}" type="presParOf" srcId="{9CEA4F06-27FE-4DCB-ACD3-4DA1AAD4E78D}" destId="{6143E77A-935D-495D-815C-D70B62722870}" srcOrd="0" destOrd="0" presId="urn:microsoft.com/office/officeart/2005/8/layout/hierarchy1"/>
    <dgm:cxn modelId="{4CA0F00D-58CA-4A6D-B925-ACC3C82B1906}" type="presParOf" srcId="{9CEA4F06-27FE-4DCB-ACD3-4DA1AAD4E78D}" destId="{A5BC94CF-2336-432C-8B5B-DBDABA825A52}" srcOrd="1" destOrd="0" presId="urn:microsoft.com/office/officeart/2005/8/layout/hierarchy1"/>
    <dgm:cxn modelId="{C89CDADE-59AB-48D8-BF52-570CDE8DA95A}" type="presParOf" srcId="{88306BA1-BB94-468B-88B3-461BD7748A16}" destId="{5C938785-2047-45B0-A1BD-1B180C0E8F6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5AF3A9-A578-4376-812C-3FF4DCFAEB41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E37AC-B94A-4C97-AF6B-69FAF1EA2640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kern="1200" dirty="0"/>
            <a:t>기상 데이터 기반 </a:t>
          </a:r>
          <a:r>
            <a:rPr lang="ko-KR" altLang="en-US" sz="2000" kern="1200" dirty="0"/>
            <a:t>미래 </a:t>
          </a:r>
          <a:r>
            <a:rPr lang="en-US" altLang="ko-KR" sz="2000" kern="1200" dirty="0"/>
            <a:t>119 </a:t>
          </a:r>
          <a:r>
            <a:rPr lang="ko-KR" sz="2000" kern="1200" dirty="0"/>
            <a:t>신고 건수 예측 가능</a:t>
          </a:r>
          <a:r>
            <a:rPr lang="ko-KR" altLang="en-US" sz="2000" kern="1200" dirty="0"/>
            <a:t>성 파악 </a:t>
          </a:r>
          <a:endParaRPr lang="en-US" sz="2000" kern="1200" dirty="0"/>
        </a:p>
      </dsp:txBody>
      <dsp:txXfrm>
        <a:off x="383617" y="1447754"/>
        <a:ext cx="2847502" cy="1768010"/>
      </dsp:txXfrm>
    </dsp:sp>
    <dsp:sp modelId="{80299A53-B0D1-41EE-93DE-B77DF429602F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25CCD-B1A6-40DB-9F31-F803A8824700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LSTM, CNN, MLP </a:t>
          </a:r>
          <a:r>
            <a:rPr lang="ko-KR" altLang="en-US" sz="2000" kern="1200" dirty="0"/>
            <a:t>모두 분석에 효과적</a:t>
          </a:r>
          <a:endParaRPr lang="en-US" sz="2000" kern="1200" dirty="0"/>
        </a:p>
      </dsp:txBody>
      <dsp:txXfrm>
        <a:off x="3998355" y="1447754"/>
        <a:ext cx="2847502" cy="1768010"/>
      </dsp:txXfrm>
    </dsp:sp>
    <dsp:sp modelId="{6143E77A-935D-495D-815C-D70B62722870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C94CF-2336-432C-8B5B-DBDABA825A52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000" kern="1200" dirty="0"/>
            <a:t>한계점 </a:t>
          </a:r>
          <a:r>
            <a:rPr lang="en-US" sz="2000" kern="1200" dirty="0"/>
            <a:t>: </a:t>
          </a:r>
          <a:r>
            <a:rPr lang="ko-KR" sz="2000" kern="1200" dirty="0"/>
            <a:t>데이터 분석 기간 한정</a:t>
          </a:r>
          <a:r>
            <a:rPr lang="ko-KR" altLang="en-US" sz="2000" kern="1200" dirty="0"/>
            <a:t>됨</a:t>
          </a:r>
          <a:r>
            <a:rPr lang="en-US" sz="2000" kern="1200" dirty="0"/>
            <a:t>, </a:t>
          </a:r>
          <a:r>
            <a:rPr lang="ko-KR" sz="2000" kern="1200" dirty="0"/>
            <a:t>기상 외 요인 </a:t>
          </a:r>
          <a:r>
            <a:rPr lang="ko-KR" sz="2000" kern="1200" dirty="0" err="1"/>
            <a:t>미반영</a:t>
          </a:r>
          <a:r>
            <a:rPr lang="en-US" sz="2000" kern="1200" dirty="0"/>
            <a:t>(</a:t>
          </a:r>
          <a:r>
            <a:rPr lang="ko-KR" sz="2000" kern="1200" dirty="0"/>
            <a:t>인구</a:t>
          </a:r>
          <a:r>
            <a:rPr lang="en-US" sz="2000" kern="1200" dirty="0"/>
            <a:t>, </a:t>
          </a:r>
          <a:r>
            <a:rPr lang="ko-KR" sz="2000" kern="1200" dirty="0"/>
            <a:t>이벤트</a:t>
          </a:r>
          <a:r>
            <a:rPr lang="en-US" altLang="ko-KR" sz="2000" kern="1200" dirty="0"/>
            <a:t>, </a:t>
          </a:r>
          <a:r>
            <a:rPr lang="ko-KR" altLang="en-US" sz="2000" kern="1200" dirty="0"/>
            <a:t>재난</a:t>
          </a:r>
          <a:r>
            <a:rPr lang="ko-KR" sz="2000" kern="1200" dirty="0"/>
            <a:t> 등</a:t>
          </a:r>
          <a:r>
            <a:rPr lang="en-US" sz="2000" kern="1200" dirty="0"/>
            <a:t>) </a:t>
          </a:r>
        </a:p>
      </dsp:txBody>
      <dsp:txXfrm>
        <a:off x="7613092" y="1447754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7943D-AC36-369C-F312-D2F6BDAD5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60D9A6-2184-A963-22BC-AD6702F82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A859F9-A741-A943-63BB-336E9DD8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657B72-AC15-D2DC-5C06-412CB6AD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D6801-0CBD-1042-D322-07B1ECD2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76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6AB47F-7B72-85B0-75A9-F48E9292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B7E110-7C97-7FA5-8027-A7CF5B924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7AF81D-F669-24E3-68D2-FB507BAA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1AB08-6B95-5075-FB22-9B4ED548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CACE1E-7962-94E9-BBD8-0E7A579D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326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84E91-EDE8-725F-8FE6-378CD744F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91CCE9-3C06-F488-5825-5C68A8C0F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97F68-DCF4-67C5-D095-024F83AF5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E2227A-669F-F66B-E4C9-F295F9A5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99F24E-ADA2-A8A0-261A-47C68FD3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97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2BC5A-6D3E-41B4-49E3-EF63D73E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903561-6FE0-6565-B8FC-7A7E1C97F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BBF747-AD92-9F3F-E7B7-C142BF09A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29591B-0179-99FF-FD13-959093D51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6C76D2-D738-98FE-5083-60A39D24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D62A8F-E799-6C1F-8C96-4CB2BF88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08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28BDA7-662F-D31F-820C-05498E03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76EAD1-5E37-ACEF-844A-956879E8F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16B591-D08F-0F24-5848-78C5D60B6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C8D953-BAC0-DEAE-6BBD-043083F67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A6F1F9-33A8-0867-7D78-ECC476691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E787CB-CF7F-70EC-8538-94260A916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D60EC5-D4DE-98AD-AC6B-8D703ACA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EDAC4F-B66D-245B-750D-AB0206026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30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C77254-1AF8-2DA8-27B6-EB648CB3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58B2A2-2780-3FEA-2757-78512E06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B22023-E8E8-D1DC-E698-C5AAA005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270B3C-7F36-B705-DADC-A3FF9DF7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728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E3AE0D-AC02-0813-046C-0A426FEA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245449-10C1-7223-0EF0-31739D79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B11CD9-E42C-F86C-4C61-ACB52D5A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30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ABACA-3137-02E2-70CC-203EB7F1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E38D84-A9C5-0B1B-B479-C11305126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12B990-5275-18C4-62F0-DDBF9A5E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C64124-41D4-8427-CBC0-247FD4FC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02CBC9-9237-6740-492F-8E5CFAF88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189CFB-7E39-5800-C5F2-D36319777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45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00C765-1A62-B658-6402-BEA9BB589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448014-E210-20C1-E344-4DBD6B831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0DC647-6EE0-FEAE-2310-3690F032F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AD0674-D57F-D66B-6317-BCF6B273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152B83-0B0A-DF2A-B668-C2B1923A8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358ED3-6AA6-6BA8-6956-F5B7DE71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844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3B910-0614-931A-0E96-09207E088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CD4990-1337-68E0-55D5-9D9994C45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945C6F-DBBD-C7DD-F44F-EC3D8858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7173E2-166C-714E-0EE5-BA3845226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020CCF-3480-5761-7404-EF976C262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27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ACBEFB1-AD56-2929-56A1-7F60F28E3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BE1C31-572C-35C4-2C95-EA2DC6B1A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5257AC-8F45-29D9-F1F8-68C6FC391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6CB2AF-81E9-DCE8-93E9-A1118467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BC0FD9-531B-B7B4-0964-CB07C6EC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453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D1E7DE-C77B-70B0-0745-5C01B6E8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B222E2-DB82-B57B-F341-D5A613D41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8107C-7ECF-D807-89BE-6C86464C7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604AA-7E80-4B3F-AC09-FE8334EB9CFE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95AA57-50B8-FEB9-6F92-55BE0F052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5E8D52-0298-CE17-9A2B-29E267605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5A137-3ADA-43B9-9F50-A6ACEE2F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11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6294BC-3C68-273B-A916-CF5EF5A9C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ko-KR" altLang="en-US" sz="4800">
                <a:solidFill>
                  <a:srgbClr val="FFFFFF"/>
                </a:solidFill>
              </a:rPr>
              <a:t>머신러닝</a:t>
            </a:r>
            <a:r>
              <a:rPr lang="ko-KR" altLang="en-US" sz="4800" dirty="0">
                <a:solidFill>
                  <a:srgbClr val="FFFFFF"/>
                </a:solidFill>
              </a:rPr>
              <a:t> 및 실습</a:t>
            </a:r>
            <a:r>
              <a:rPr lang="en-US" altLang="ko-KR" sz="4800" dirty="0">
                <a:solidFill>
                  <a:srgbClr val="FFFFFF"/>
                </a:solidFill>
              </a:rPr>
              <a:t>(2) </a:t>
            </a:r>
            <a:r>
              <a:rPr lang="ko-KR" altLang="en-US" sz="4800" dirty="0">
                <a:solidFill>
                  <a:srgbClr val="FFFFFF"/>
                </a:solidFill>
              </a:rPr>
              <a:t>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196C1F-AE85-50EE-8ED1-C26A70809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Autofit/>
          </a:bodyPr>
          <a:lstStyle/>
          <a:p>
            <a:pPr algn="l"/>
            <a:r>
              <a:rPr lang="en-US" altLang="ko-KR" dirty="0" err="1"/>
              <a:t>MLmate</a:t>
            </a:r>
            <a:endParaRPr lang="en-US" altLang="ko-KR" dirty="0"/>
          </a:p>
          <a:p>
            <a:pPr algn="l"/>
            <a:r>
              <a:rPr lang="en-US" altLang="ko-KR" dirty="0"/>
              <a:t>C189061 </a:t>
            </a:r>
            <a:r>
              <a:rPr lang="ko-KR" altLang="en-US" dirty="0" err="1"/>
              <a:t>조연후</a:t>
            </a:r>
            <a:endParaRPr lang="en-US" altLang="ko-KR" dirty="0"/>
          </a:p>
          <a:p>
            <a:pPr algn="l"/>
            <a:r>
              <a:rPr lang="en-US" altLang="ko-KR" dirty="0"/>
              <a:t>C389002 </a:t>
            </a:r>
            <a:r>
              <a:rPr lang="ko-KR" altLang="en-US" dirty="0"/>
              <a:t>강하민</a:t>
            </a:r>
            <a:endParaRPr lang="en-US" altLang="ko-KR" dirty="0"/>
          </a:p>
          <a:p>
            <a:pPr algn="l"/>
            <a:r>
              <a:rPr lang="en-US" altLang="ko-KR" dirty="0"/>
              <a:t>C389066 </a:t>
            </a:r>
            <a:r>
              <a:rPr lang="ko-KR" altLang="en-US" dirty="0" err="1"/>
              <a:t>한가빈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1072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733FF6C-3EB5-9F03-01FC-04E37891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ko-KR" altLang="en-US" sz="4000" dirty="0">
                <a:solidFill>
                  <a:srgbClr val="FFFFFF"/>
                </a:solidFill>
              </a:rPr>
              <a:t>주제 선정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4BAD73-37CA-7BF7-BD42-E20065EC7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lnSpcReduction="10000"/>
          </a:bodyPr>
          <a:lstStyle/>
          <a:p>
            <a:r>
              <a:rPr lang="ko-KR" altLang="en-US" dirty="0"/>
              <a:t>주제 </a:t>
            </a:r>
            <a:r>
              <a:rPr lang="en-US" altLang="ko-KR" dirty="0"/>
              <a:t>: </a:t>
            </a:r>
            <a:r>
              <a:rPr lang="ko-KR" altLang="en-US" dirty="0"/>
              <a:t>소방데이터와 날씨 데이터를 융합한 부산광역시 </a:t>
            </a:r>
            <a:r>
              <a:rPr lang="en-US" altLang="ko-KR" dirty="0"/>
              <a:t>119 </a:t>
            </a:r>
            <a:r>
              <a:rPr lang="ko-KR" altLang="en-US" dirty="0"/>
              <a:t>신고건수 예측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119 </a:t>
            </a:r>
            <a:r>
              <a:rPr lang="ko-KR" altLang="en-US" dirty="0"/>
              <a:t>신고건수 예측 중요성 파악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기상과 신고건수 연관성을 가정함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목표</a:t>
            </a:r>
            <a:r>
              <a:rPr lang="en-US" altLang="ko-KR" dirty="0"/>
              <a:t>: </a:t>
            </a:r>
            <a:r>
              <a:rPr lang="ko-KR" altLang="en-US" dirty="0"/>
              <a:t>기상 데이터 기반 </a:t>
            </a:r>
            <a:r>
              <a:rPr lang="en-US" altLang="ko-KR" dirty="0"/>
              <a:t>119</a:t>
            </a:r>
            <a:r>
              <a:rPr lang="ko-KR" altLang="en-US" dirty="0"/>
              <a:t> 신고건수 예측 모델 개발</a:t>
            </a:r>
          </a:p>
        </p:txBody>
      </p:sp>
    </p:spTree>
    <p:extLst>
      <p:ext uri="{BB962C8B-B14F-4D97-AF65-F5344CB8AC3E}">
        <p14:creationId xmlns:p14="http://schemas.microsoft.com/office/powerpoint/2010/main" val="3620209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C1CD2AC-B537-0DC4-9630-0D707765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ko-KR" altLang="en-US" sz="4000" dirty="0">
                <a:solidFill>
                  <a:srgbClr val="FFFFFF"/>
                </a:solidFill>
              </a:rPr>
              <a:t>데이터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E9C9A0-1136-31ED-83A8-3CFB8C166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007301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119 </a:t>
            </a:r>
            <a:r>
              <a:rPr lang="ko-KR" altLang="en-US" dirty="0"/>
              <a:t>신고 데이터</a:t>
            </a:r>
            <a:r>
              <a:rPr lang="en-US" altLang="ko-KR" dirty="0"/>
              <a:t>: 2020~2023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  <a:r>
              <a:rPr lang="en-US" altLang="ko-KR" dirty="0"/>
              <a:t>~10</a:t>
            </a:r>
            <a:r>
              <a:rPr lang="ko-KR" altLang="en-US" dirty="0"/>
              <a:t>월</a:t>
            </a:r>
            <a:r>
              <a:rPr lang="en-US" altLang="ko-KR" dirty="0"/>
              <a:t>, </a:t>
            </a:r>
            <a:r>
              <a:rPr lang="ko-KR" altLang="en-US" dirty="0"/>
              <a:t>일별 신고 건수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부산 기상청 데이터</a:t>
            </a:r>
            <a:r>
              <a:rPr lang="en-US" altLang="ko-KR" dirty="0"/>
              <a:t>: 2020~2023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  <a:r>
              <a:rPr lang="en-US" altLang="ko-KR" dirty="0"/>
              <a:t>~10</a:t>
            </a:r>
            <a:r>
              <a:rPr lang="ko-KR" altLang="en-US" dirty="0"/>
              <a:t>월</a:t>
            </a:r>
            <a:r>
              <a:rPr lang="en-US" altLang="ko-KR" dirty="0"/>
              <a:t>, </a:t>
            </a:r>
            <a:r>
              <a:rPr lang="ko-KR" altLang="en-US" dirty="0"/>
              <a:t>기온</a:t>
            </a:r>
            <a:r>
              <a:rPr lang="en-US" altLang="ko-KR" dirty="0"/>
              <a:t>, </a:t>
            </a:r>
            <a:r>
              <a:rPr lang="ko-KR" altLang="en-US" dirty="0"/>
              <a:t>강수량 등 주요 변수 포함</a:t>
            </a:r>
          </a:p>
        </p:txBody>
      </p:sp>
    </p:spTree>
    <p:extLst>
      <p:ext uri="{BB962C8B-B14F-4D97-AF65-F5344CB8AC3E}">
        <p14:creationId xmlns:p14="http://schemas.microsoft.com/office/powerpoint/2010/main" val="4287198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B6CCE4-EA26-4DFE-09D1-A523F6BE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ko-KR" altLang="en-US" sz="5400" dirty="0"/>
              <a:t>데이터 </a:t>
            </a:r>
            <a:br>
              <a:rPr lang="en-US" altLang="ko-KR" sz="5400" dirty="0"/>
            </a:br>
            <a:r>
              <a:rPr lang="ko-KR" altLang="en-US" sz="5400" dirty="0" err="1"/>
              <a:t>전처리</a:t>
            </a:r>
            <a:endParaRPr lang="ko-KR" altLang="en-US" sz="5400" dirty="0"/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28CC68-5A56-7031-68A2-FD2CEC3EE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ko-KR" altLang="en-US" sz="2200"/>
              <a:t>신고 데이터 일별 집계</a:t>
            </a:r>
            <a:endParaRPr lang="en-US" altLang="ko-KR" sz="2200"/>
          </a:p>
          <a:p>
            <a:pPr marL="0" indent="0">
              <a:buNone/>
            </a:pPr>
            <a:endParaRPr lang="en-US" altLang="ko-KR" sz="2200"/>
          </a:p>
          <a:p>
            <a:r>
              <a:rPr lang="ko-KR" altLang="en-US" sz="2200"/>
              <a:t>기상 데이터 통합 및 결측치 처리 </a:t>
            </a:r>
            <a:r>
              <a:rPr lang="en-US" altLang="ko-KR" sz="2200"/>
              <a:t>(NaN</a:t>
            </a:r>
            <a:r>
              <a:rPr lang="ko-KR" altLang="en-US" sz="2200"/>
              <a:t>값 </a:t>
            </a:r>
            <a:r>
              <a:rPr lang="en-US" altLang="ko-KR" sz="2200"/>
              <a:t>0</a:t>
            </a:r>
            <a:r>
              <a:rPr lang="ko-KR" altLang="en-US" sz="2200"/>
              <a:t>으로 처리</a:t>
            </a:r>
            <a:r>
              <a:rPr lang="en-US" altLang="ko-KR" sz="2200"/>
              <a:t>)</a:t>
            </a:r>
          </a:p>
          <a:p>
            <a:endParaRPr lang="en-US" altLang="ko-KR" sz="2200"/>
          </a:p>
          <a:p>
            <a:r>
              <a:rPr lang="ko-KR" altLang="en-US" sz="2200"/>
              <a:t>날짜 기준 두 데이터셋 병합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6DFD94-12A3-3274-F39B-E53D4C0D17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98" b="3"/>
          <a:stretch>
            <a:fillRect/>
          </a:stretch>
        </p:blipFill>
        <p:spPr>
          <a:xfrm>
            <a:off x="5054897" y="640080"/>
            <a:ext cx="6102517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80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C919EC-0270-42F2-B547-8DCCA262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ko-KR" altLang="en-US" sz="4000">
                <a:solidFill>
                  <a:srgbClr val="FFFFFF"/>
                </a:solidFill>
              </a:rPr>
              <a:t>모델링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22141F-5361-D0E8-C330-1B50441B0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ko-KR" altLang="en-US" dirty="0"/>
              <a:t>시계열 데이터 특성 반영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주요 입력 변수</a:t>
            </a:r>
            <a:r>
              <a:rPr lang="en-US" altLang="ko-KR" dirty="0"/>
              <a:t>(x)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날씨 데이터</a:t>
            </a:r>
            <a:r>
              <a:rPr lang="en-US" altLang="ko-KR" dirty="0"/>
              <a:t>(</a:t>
            </a:r>
            <a:r>
              <a:rPr lang="ko-KR" altLang="en-US" dirty="0"/>
              <a:t>평균 기온</a:t>
            </a:r>
            <a:r>
              <a:rPr lang="en-US" altLang="ko-KR" dirty="0"/>
              <a:t>, </a:t>
            </a:r>
            <a:r>
              <a:rPr lang="ko-KR" altLang="en-US" dirty="0"/>
              <a:t>최저</a:t>
            </a:r>
            <a:r>
              <a:rPr lang="en-US" altLang="ko-KR" dirty="0"/>
              <a:t>/</a:t>
            </a:r>
            <a:r>
              <a:rPr lang="ko-KR" altLang="en-US" dirty="0"/>
              <a:t>최고 기온</a:t>
            </a:r>
            <a:r>
              <a:rPr lang="en-US" altLang="ko-KR" dirty="0"/>
              <a:t>, </a:t>
            </a:r>
            <a:r>
              <a:rPr lang="ko-KR" altLang="en-US" dirty="0"/>
              <a:t>일 강수량</a:t>
            </a:r>
            <a:r>
              <a:rPr lang="en-US" altLang="ko-KR" dirty="0"/>
              <a:t>, </a:t>
            </a:r>
            <a:r>
              <a:rPr lang="ko-KR" altLang="en-US" dirty="0"/>
              <a:t>최대</a:t>
            </a:r>
            <a:r>
              <a:rPr lang="en-US" altLang="ko-KR" dirty="0"/>
              <a:t>/</a:t>
            </a:r>
            <a:r>
              <a:rPr lang="ko-KR" altLang="en-US" dirty="0"/>
              <a:t>최대 순간 풍속</a:t>
            </a:r>
            <a:r>
              <a:rPr lang="en-US" altLang="ko-KR" dirty="0"/>
              <a:t>, </a:t>
            </a:r>
            <a:r>
              <a:rPr lang="ko-KR" altLang="en-US" dirty="0"/>
              <a:t>평균 이슬점 온도</a:t>
            </a:r>
            <a:r>
              <a:rPr lang="en-US" altLang="ko-KR" dirty="0"/>
              <a:t>, </a:t>
            </a:r>
            <a:r>
              <a:rPr lang="ko-KR" altLang="en-US" dirty="0"/>
              <a:t>최소 상대습도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목표 변수</a:t>
            </a:r>
            <a:r>
              <a:rPr lang="en-US" altLang="ko-KR" dirty="0"/>
              <a:t>(y) : 119 </a:t>
            </a:r>
            <a:r>
              <a:rPr lang="ko-KR" altLang="en-US" dirty="0"/>
              <a:t>신고 건수 예측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843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F2FFD6-2303-6452-F12F-21297051F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altLang="ko-KR" sz="4800"/>
              <a:t>LSTM </a:t>
            </a:r>
            <a:r>
              <a:rPr lang="ko-KR" altLang="en-US" sz="4800"/>
              <a:t>모델 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82B2BF-D1D1-6E62-923D-5D1F2F7DE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ko-KR" altLang="en-US" sz="2200" dirty="0"/>
              <a:t>시계열 특성 학습에 강점</a:t>
            </a:r>
            <a:endParaRPr lang="en-US" altLang="ko-KR" sz="2200" dirty="0"/>
          </a:p>
          <a:p>
            <a:endParaRPr lang="en-US" altLang="ko-KR" sz="2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354D87-BA8B-6F7B-A935-5E84FEBA2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244" y="1868993"/>
            <a:ext cx="5596820" cy="43235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619A5FD-C9D0-D3ED-A619-A2C237128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69" y="2471095"/>
            <a:ext cx="5468112" cy="363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03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F4F878-7D27-C1BC-972A-F30D8C7ED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altLang="ko-KR" sz="4800"/>
              <a:t>CNN </a:t>
            </a:r>
            <a:r>
              <a:rPr lang="ko-KR" altLang="en-US" sz="4800"/>
              <a:t>모델</a:t>
            </a:r>
            <a:r>
              <a:rPr lang="en-US" altLang="ko-KR" sz="4800"/>
              <a:t>(</a:t>
            </a:r>
            <a:r>
              <a:rPr lang="ko-KR" altLang="en-US" sz="4800"/>
              <a:t>신경망</a:t>
            </a:r>
            <a:r>
              <a:rPr lang="en-US" altLang="ko-KR" sz="4800"/>
              <a:t>)</a:t>
            </a:r>
            <a:endParaRPr lang="ko-KR" altLang="en-US" sz="4800"/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E0FD96-1C51-E235-CF74-018F70FE3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ko-KR" altLang="en-US" sz="2200" dirty="0"/>
              <a:t>시계열에서 지역적 특징 추출에 유용</a:t>
            </a:r>
            <a:endParaRPr lang="en-US" altLang="ko-KR" sz="2200" dirty="0"/>
          </a:p>
          <a:p>
            <a:endParaRPr lang="en-US" altLang="ko-KR" sz="2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4D9168-BB71-A4E5-2D4D-D5AB26E84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08" y="2569463"/>
            <a:ext cx="4443563" cy="39769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CD824B-A5C4-E9A3-C144-3AC1FB7CD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228" y="2871025"/>
            <a:ext cx="5721380" cy="321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77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01FBB9-E357-D53D-CC12-CCA9EE2C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altLang="ko-KR" sz="4800"/>
              <a:t>MLP</a:t>
            </a:r>
            <a:r>
              <a:rPr lang="ko-KR" altLang="en-US" sz="4800"/>
              <a:t> 모델</a:t>
            </a:r>
            <a:r>
              <a:rPr lang="en-US" altLang="ko-KR" sz="4800"/>
              <a:t>(</a:t>
            </a:r>
            <a:r>
              <a:rPr lang="ko-KR" altLang="en-US" sz="4800"/>
              <a:t>신경망</a:t>
            </a:r>
            <a:r>
              <a:rPr lang="en-US" altLang="ko-KR" sz="4800"/>
              <a:t>)</a:t>
            </a:r>
            <a:endParaRPr lang="ko-KR" altLang="en-US" sz="4800"/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D105B2-1806-A0F1-A243-BA7D8D829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altLang="ko-KR" sz="2000"/>
          </a:p>
          <a:p>
            <a:endParaRPr lang="en-US" altLang="ko-KR" sz="2000"/>
          </a:p>
          <a:p>
            <a:r>
              <a:rPr lang="ko-KR" altLang="en-US" sz="2000"/>
              <a:t>시계열 구조를 반영하지 않고 모든 입력을 한 번에 처리함</a:t>
            </a:r>
            <a:endParaRPr lang="en-US" altLang="ko-KR" sz="2000"/>
          </a:p>
          <a:p>
            <a:endParaRPr lang="en-US" altLang="ko-KR" sz="20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B44353-0969-2331-F9EC-BF56FB119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616" y="2290936"/>
            <a:ext cx="5822575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5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AEF7421-1F0C-6E76-236D-40887F12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ko-KR" altLang="en-US" sz="2800"/>
              <a:t>모델 성능 비교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6252F0-F52F-0051-FE1B-86AD6DB29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r>
              <a:rPr lang="en-US" altLang="ko-KR" sz="1500"/>
              <a:t>LSTM RMSE </a:t>
            </a:r>
            <a:r>
              <a:rPr lang="ko-KR" altLang="en-US" sz="1500"/>
              <a:t>값</a:t>
            </a:r>
            <a:r>
              <a:rPr lang="en-US" altLang="ko-KR" sz="1500"/>
              <a:t>: </a:t>
            </a:r>
          </a:p>
          <a:p>
            <a:endParaRPr lang="en-US" altLang="ko-KR" sz="1500"/>
          </a:p>
          <a:p>
            <a:r>
              <a:rPr lang="en-US" altLang="ko-KR" sz="1500"/>
              <a:t>CNN RMSE </a:t>
            </a:r>
            <a:r>
              <a:rPr lang="ko-KR" altLang="en-US" sz="1500"/>
              <a:t>값</a:t>
            </a:r>
            <a:r>
              <a:rPr lang="en-US" altLang="ko-KR" sz="1500"/>
              <a:t>:</a:t>
            </a:r>
          </a:p>
          <a:p>
            <a:endParaRPr lang="en-US" altLang="ko-KR" sz="1500"/>
          </a:p>
          <a:p>
            <a:r>
              <a:rPr lang="en-US" altLang="ko-KR" sz="1500"/>
              <a:t>MLP RMSE </a:t>
            </a:r>
            <a:r>
              <a:rPr lang="ko-KR" altLang="en-US" sz="1500"/>
              <a:t>값</a:t>
            </a:r>
            <a:r>
              <a:rPr lang="en-US" altLang="ko-KR" sz="1500"/>
              <a:t>:</a:t>
            </a:r>
          </a:p>
          <a:p>
            <a:endParaRPr lang="en-US" altLang="ko-KR" sz="1500"/>
          </a:p>
        </p:txBody>
      </p:sp>
      <p:pic>
        <p:nvPicPr>
          <p:cNvPr id="20" name="그림 19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48144D-6574-3D55-108B-C9078C2EF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207406"/>
            <a:ext cx="3584448" cy="2437424"/>
          </a:xfrm>
          <a:prstGeom prst="rect">
            <a:avLst/>
          </a:prstGeom>
        </p:spPr>
      </p:pic>
      <p:pic>
        <p:nvPicPr>
          <p:cNvPr id="15" name="그림 14" descr="텍스트, 스크린샷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BDB0F8-58B6-A24C-1E20-29D1AEFB3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99" y="3256692"/>
            <a:ext cx="3584448" cy="2338852"/>
          </a:xfrm>
          <a:prstGeom prst="rect">
            <a:avLst/>
          </a:prstGeom>
        </p:spPr>
      </p:pic>
      <p:pic>
        <p:nvPicPr>
          <p:cNvPr id="11" name="그림 10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68F7EF-9A1D-C19F-8490-956D5005D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415" y="3256692"/>
            <a:ext cx="3584448" cy="233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2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0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2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776AF03-2A1A-736E-C579-BE33622AA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2024</a:t>
            </a:r>
            <a:r>
              <a:rPr lang="ko-KR" altLang="en-US" sz="3200" dirty="0"/>
              <a:t>년 신고건수 예측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37231C-90C5-1FAB-D666-799246B82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2024</a:t>
            </a:r>
            <a:r>
              <a:rPr lang="ko-KR" altLang="en-US" sz="1800" dirty="0"/>
              <a:t>년 </a:t>
            </a:r>
            <a:r>
              <a:rPr lang="en-US" altLang="ko-KR" sz="1800" dirty="0"/>
              <a:t>5</a:t>
            </a:r>
            <a:r>
              <a:rPr lang="ko-KR" altLang="en-US" sz="1800" dirty="0"/>
              <a:t>월</a:t>
            </a:r>
            <a:r>
              <a:rPr lang="en-US" altLang="ko-KR" sz="1800" dirty="0"/>
              <a:t>~10</a:t>
            </a:r>
            <a:r>
              <a:rPr lang="ko-KR" altLang="en-US" sz="1800" dirty="0"/>
              <a:t>월 기상 데이터 </a:t>
            </a:r>
            <a:r>
              <a:rPr lang="ko-KR" altLang="en-US" sz="1800" dirty="0" err="1"/>
              <a:t>전처리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LSTM, CNN, MLP </a:t>
            </a:r>
            <a:r>
              <a:rPr lang="ko-KR" altLang="en-US" sz="1800" dirty="0"/>
              <a:t>모델로 예측</a:t>
            </a:r>
            <a:r>
              <a:rPr lang="en-US" altLang="ko-KR" sz="1800" dirty="0"/>
              <a:t>, </a:t>
            </a:r>
            <a:r>
              <a:rPr lang="ko-KR" altLang="en-US" sz="1800" dirty="0"/>
              <a:t>시각화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81F21E-E48A-A062-B49C-E2CB7FC2C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60" y="2729397"/>
            <a:ext cx="5422355" cy="34838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3E14234-C722-4F5F-3C5F-8792DE86E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3752141"/>
            <a:ext cx="5523082" cy="14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05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9DA15CC-3F42-4D38-E1FE-1619A430F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ko-KR" altLang="en-US" sz="5400" dirty="0"/>
              <a:t>예측 결과</a:t>
            </a:r>
            <a:br>
              <a:rPr lang="en-US" altLang="ko-KR" sz="5400" dirty="0"/>
            </a:br>
            <a:r>
              <a:rPr lang="ko-KR" altLang="en-US" sz="5400" dirty="0"/>
              <a:t>시각화 </a:t>
            </a:r>
            <a:r>
              <a:rPr lang="en-US" altLang="ko-KR" sz="5400" dirty="0"/>
              <a:t> </a:t>
            </a:r>
            <a:endParaRPr lang="ko-KR" altLang="en-US" sz="5400" dirty="0"/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A270A9-CE6D-61E6-2BDF-78B128BBD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altLang="ko-KR" sz="2200" dirty="0"/>
              <a:t>LSTM</a:t>
            </a:r>
            <a:r>
              <a:rPr lang="ko-KR" altLang="en-US" sz="2200" dirty="0"/>
              <a:t> 사용 예측 시행 결과</a:t>
            </a:r>
            <a:endParaRPr lang="en-US" altLang="ko-KR" sz="2200" dirty="0"/>
          </a:p>
          <a:p>
            <a:endParaRPr lang="en-US" altLang="ko-KR" sz="2200" dirty="0"/>
          </a:p>
          <a:p>
            <a:pPr marL="0" indent="0">
              <a:buNone/>
            </a:pPr>
            <a:endParaRPr lang="ko-KR" altLang="en-US" sz="2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6D473D-0852-5970-BD0F-21231E91A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52811"/>
            <a:ext cx="6903720" cy="395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71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540DA4-C74D-BA6D-18DA-1FDE7B0F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ko-KR" altLang="en-US" sz="5400" dirty="0"/>
              <a:t>예측 결과</a:t>
            </a:r>
            <a:br>
              <a:rPr lang="en-US" altLang="ko-KR" sz="5400" dirty="0"/>
            </a:br>
            <a:r>
              <a:rPr lang="ko-KR" altLang="en-US" sz="5400" dirty="0"/>
              <a:t>시각화 </a:t>
            </a:r>
            <a:r>
              <a:rPr lang="en-US" altLang="ko-KR" sz="5400" dirty="0"/>
              <a:t> </a:t>
            </a:r>
            <a:endParaRPr lang="ko-KR" altLang="en-US" sz="5400" dirty="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B2766-B18B-815C-82D3-2A2D1DFA6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altLang="ko-KR" sz="2200"/>
          </a:p>
          <a:p>
            <a:r>
              <a:rPr lang="en-US" altLang="ko-KR" sz="2200"/>
              <a:t>CNN </a:t>
            </a:r>
            <a:r>
              <a:rPr lang="ko-KR" altLang="en-US" sz="2200"/>
              <a:t>사용 예측 시행 결과</a:t>
            </a:r>
            <a:endParaRPr lang="en-US" altLang="ko-KR" sz="2200"/>
          </a:p>
          <a:p>
            <a:endParaRPr lang="en-US" altLang="ko-KR" sz="2200"/>
          </a:p>
          <a:p>
            <a:endParaRPr lang="ko-KR" altLang="en-US" sz="2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1EF83D-3484-916B-AB43-95FB27A53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23366"/>
            <a:ext cx="6903720" cy="421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966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FFB6CE-B9E1-39A5-310A-C7883C25E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ko-KR" altLang="en-US" sz="5400" dirty="0"/>
              <a:t>예측 결과 시각화</a:t>
            </a:r>
            <a:r>
              <a:rPr lang="en-US" altLang="ko-KR" sz="5400" dirty="0"/>
              <a:t> </a:t>
            </a:r>
            <a:endParaRPr lang="ko-KR" altLang="en-US" sz="5400" dirty="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A48858-8936-A795-7980-615B19F9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altLang="ko-KR" sz="2200"/>
              <a:t>MLP </a:t>
            </a:r>
            <a:r>
              <a:rPr lang="ko-KR" altLang="en-US" sz="2200"/>
              <a:t>사용 예측 시행 결과</a:t>
            </a:r>
            <a:endParaRPr lang="en-US" altLang="ko-KR" sz="2200"/>
          </a:p>
          <a:p>
            <a:endParaRPr lang="en-US" altLang="ko-KR" sz="2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FC1123-36A5-EB34-54E2-68CAEABA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506" y="1805695"/>
            <a:ext cx="7334138" cy="326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78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0A1EC-BEA7-34C7-368B-3373E09F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graphicFrame>
        <p:nvGraphicFramePr>
          <p:cNvPr id="21" name="내용 개체 틀 2">
            <a:extLst>
              <a:ext uri="{FF2B5EF4-FFF2-40B4-BE49-F238E27FC236}">
                <a16:creationId xmlns:a16="http://schemas.microsoft.com/office/drawing/2014/main" id="{8773B1D2-53DC-1D9A-696B-FEE3EEB8F7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06772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2390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18C83EA-0E20-F42F-0A16-3E669FC5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마무리</a:t>
            </a:r>
          </a:p>
        </p:txBody>
      </p:sp>
    </p:spTree>
    <p:extLst>
      <p:ext uri="{BB962C8B-B14F-4D97-AF65-F5344CB8AC3E}">
        <p14:creationId xmlns:p14="http://schemas.microsoft.com/office/powerpoint/2010/main" val="2502027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294</Words>
  <Application>Microsoft Office PowerPoint</Application>
  <PresentationFormat>와이드스크린</PresentationFormat>
  <Paragraphs>60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테마</vt:lpstr>
      <vt:lpstr>머신러닝 및 실습(2) 프로젝트 발표</vt:lpstr>
      <vt:lpstr>주제 선정 및 목표</vt:lpstr>
      <vt:lpstr>데이터 소개</vt:lpstr>
      <vt:lpstr>데이터  전처리</vt:lpstr>
      <vt:lpstr>모델링 개요</vt:lpstr>
      <vt:lpstr>LSTM 모델 </vt:lpstr>
      <vt:lpstr>CNN 모델(신경망)</vt:lpstr>
      <vt:lpstr>MLP 모델(신경망)</vt:lpstr>
      <vt:lpstr>모델 성능 비교</vt:lpstr>
      <vt:lpstr>2024년 신고건수 예측</vt:lpstr>
      <vt:lpstr>예측 결과 시각화  </vt:lpstr>
      <vt:lpstr>예측 결과 시각화  </vt:lpstr>
      <vt:lpstr>예측 결과 시각화 </vt:lpstr>
      <vt:lpstr>결론</vt:lpstr>
      <vt:lpstr>마무리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강하민</dc:creator>
  <cp:lastModifiedBy>강하민</cp:lastModifiedBy>
  <cp:revision>24</cp:revision>
  <dcterms:created xsi:type="dcterms:W3CDTF">2025-06-13T04:33:49Z</dcterms:created>
  <dcterms:modified xsi:type="dcterms:W3CDTF">2025-06-16T02:38:38Z</dcterms:modified>
</cp:coreProperties>
</file>